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01" r:id="rId3"/>
    <p:sldId id="258" r:id="rId4"/>
    <p:sldId id="290" r:id="rId5"/>
    <p:sldId id="291" r:id="rId6"/>
    <p:sldId id="292" r:id="rId7"/>
    <p:sldId id="293" r:id="rId8"/>
    <p:sldId id="302" r:id="rId9"/>
    <p:sldId id="294" r:id="rId10"/>
    <p:sldId id="296" r:id="rId11"/>
    <p:sldId id="295" r:id="rId12"/>
    <p:sldId id="297" r:id="rId13"/>
    <p:sldId id="299" r:id="rId14"/>
    <p:sldId id="300" r:id="rId15"/>
    <p:sldId id="284" r:id="rId16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r9t/zlH0+U33JGxe/pMkYlLIy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D997B1-447C-4ED2-8366-F392FD5A2A3D}" v="11" dt="2025-11-17T08:11:31.071"/>
    <p1510:client id="{91D7A6C4-2402-4513-8545-2C4A2980FC82}" v="109" dt="2025-11-17T12:09:03.416"/>
    <p1510:client id="{B3EBDF98-D7F7-4C51-A604-0CBCE52EE908}" v="126" dt="2025-11-18T03:08:12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7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8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8D973BD-312F-BF05-65C9-E7104D4E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24D2BFF-8D34-87D2-4CCA-00B6EC879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189D0FD4-036F-E0CC-EE6C-BFA0A047D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8548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832D377-4388-2BA8-0DE3-E9460B2F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5F5AE50B-011F-E077-A718-A49DEC0AF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23473D31-B19B-801E-8DCE-5EF67752A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6265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6A6363E-96AF-5983-1BDC-02B1EE0E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13B905A7-5347-6E84-1101-346F5F901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ACE44ECB-D30A-EBD4-075E-4AD9FF1693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4470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A19E0DA-03A4-173F-9F88-2F4EE181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A5F32EA0-652B-88C0-D169-74EDE25DC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9A205EAE-44AF-AB28-1985-1B7E2691A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4017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FBE7DC0-BADD-0C47-3231-1F6E87C0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A73C82B-96B1-3369-687C-658558A09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3CE0BF4F-530D-2975-D01B-4D127CBCA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8609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79A75EB-03C6-64A5-DBE4-734C332E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D63AE729-B501-78A1-8317-32025206BA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6F661EB7-18C7-F854-404E-FCC36BC12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7374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EEF98A9-247C-5572-7ACC-B260F7AB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A5793D0-F4E6-99AD-3C6E-340CF61F6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0CE24BE0-889E-9406-830C-4C95D5836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1849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523994F-C7DF-BE7C-E0F8-A384A4C7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8C7ABDF6-7AAA-5FEB-07A9-1C403B9B8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EEAA6B12-D5AD-7173-CBD2-AC7FD3D685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369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13B1C37-67EB-9285-DF99-F847A786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409A335-E73B-B76E-59C9-523FFC500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475786B8-928E-5EF2-88AB-DEDAE2C7A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3197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78B98FC-B266-728F-7852-DBB8B6B9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3BBCF11-1421-942F-C5DD-43C9EC0FA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D420C06D-B46A-EB14-2B5A-9059010E7A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3579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40A0D10-8070-A24C-078B-BD3E4186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789533F-1011-1693-F085-61A838D56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28262922-3AAD-7E36-04A9-38EE5CB29C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2148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7B937F9-890A-07F8-10E3-42EDF8E1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4E3F450D-2A76-9670-7146-428BD52F4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E6CD25F5-A23A-7DD5-2993-10CFAF102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2844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19" name="Google Shape;3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596900" y="1541779"/>
            <a:ext cx="10509885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3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3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596900" y="1541779"/>
            <a:ext cx="10509885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/>
        </p:nvSpPr>
        <p:spPr>
          <a:xfrm>
            <a:off x="4816638" y="2130201"/>
            <a:ext cx="5764532" cy="167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/>
            <a:r>
              <a:rPr lang="en-IN" sz="3600" dirty="0">
                <a:solidFill>
                  <a:srgbClr val="2E5395"/>
                </a:solidFill>
                <a:ea typeface="Calibri"/>
                <a:sym typeface="Calibri"/>
              </a:rPr>
              <a:t>Study Smarter: Data-Driven Insights into Student Performance</a:t>
            </a:r>
            <a:endParaRPr lang="en-US" dirty="0"/>
          </a:p>
        </p:txBody>
      </p:sp>
      <p:sp>
        <p:nvSpPr>
          <p:cNvPr id="50" name="Google Shape;50;p1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 extrusionOk="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4783073" y="4112515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120000" extrusionOk="0">
                <a:moveTo>
                  <a:pt x="0" y="0"/>
                </a:moveTo>
                <a:lnTo>
                  <a:pt x="4581448" y="0"/>
                </a:lnTo>
              </a:path>
            </a:pathLst>
          </a:custGeom>
          <a:noFill/>
          <a:ln w="38100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4979" y="1606296"/>
            <a:ext cx="2369820" cy="354939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 extrusionOk="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80"/>
                </a:lnTo>
                <a:lnTo>
                  <a:pt x="1066800" y="1077480"/>
                </a:lnTo>
                <a:lnTo>
                  <a:pt x="1066800" y="45720"/>
                </a:lnTo>
                <a:lnTo>
                  <a:pt x="1066800" y="10680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2;p1">
            <a:extLst>
              <a:ext uri="{FF2B5EF4-FFF2-40B4-BE49-F238E27FC236}">
                <a16:creationId xmlns:a16="http://schemas.microsoft.com/office/drawing/2014/main" id="{D0343AAB-DD93-C3D1-54CE-50720CB562AF}"/>
              </a:ext>
            </a:extLst>
          </p:cNvPr>
          <p:cNvSpPr/>
          <p:nvPr/>
        </p:nvSpPr>
        <p:spPr>
          <a:xfrm>
            <a:off x="4781916" y="4461847"/>
            <a:ext cx="749721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 1  Abhishek P, SRN  PES2UG23AM002 </a:t>
            </a:r>
          </a:p>
          <a:p>
            <a:pPr>
              <a:buSzPts val="2000"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 2  Adyaa GB   , SRN  PES2UG23AM006</a:t>
            </a:r>
          </a:p>
          <a:p>
            <a:pPr>
              <a:buSzPts val="2000"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 3 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Adyanth S   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SRN 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PES2UG23AM007</a:t>
            </a:r>
            <a:endParaRPr lang="en-IN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2000"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 4 Harsha         , SRN  PES2UG23AM042</a:t>
            </a:r>
          </a:p>
        </p:txBody>
      </p:sp>
      <p:sp>
        <p:nvSpPr>
          <p:cNvPr id="6" name="Google Shape;89;p1">
            <a:extLst>
              <a:ext uri="{FF2B5EF4-FFF2-40B4-BE49-F238E27FC236}">
                <a16:creationId xmlns:a16="http://schemas.microsoft.com/office/drawing/2014/main" id="{E4CC22FB-453C-4823-29A6-1004DCC31E13}"/>
              </a:ext>
            </a:extLst>
          </p:cNvPr>
          <p:cNvSpPr/>
          <p:nvPr/>
        </p:nvSpPr>
        <p:spPr>
          <a:xfrm>
            <a:off x="4114799" y="667203"/>
            <a:ext cx="749721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Course Project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6F66C97-A123-16D9-3675-51953D65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0D953A79-E8E5-1574-4D09-11AC985783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5B49E40-DFE4-C76B-04A8-9485B5C6CDF2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0C333222-57A3-F5A5-1774-C5449A71473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00A8410D-5C53-855F-2C34-6C72A040BE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Submission Checklist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C78F10-45E7-6395-FC2F-020A9D561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063556"/>
              </p:ext>
            </p:extLst>
          </p:nvPr>
        </p:nvGraphicFramePr>
        <p:xfrm>
          <a:off x="422687" y="1653702"/>
          <a:ext cx="10981305" cy="38741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932568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Feature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Drive Shared ( Y/N)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Code notebook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Dataset or dataset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This PPT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5 mins Video presenting your paper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Brief Project Report in IEEE Format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66DE3D-B9B0-5802-D719-2C6CC78F83AF}"/>
              </a:ext>
            </a:extLst>
          </p:cNvPr>
          <p:cNvSpPr txBox="1"/>
          <p:nvPr/>
        </p:nvSpPr>
        <p:spPr>
          <a:xfrm>
            <a:off x="393111" y="6046627"/>
            <a:ext cx="731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Note:</a:t>
            </a:r>
            <a:r>
              <a:rPr lang="en-IN" dirty="0"/>
              <a:t> Mention the </a:t>
            </a:r>
            <a:r>
              <a:rPr lang="en-IN" b="1" dirty="0"/>
              <a:t>email-ids</a:t>
            </a:r>
            <a:r>
              <a:rPr lang="en-IN" dirty="0"/>
              <a:t> you shared the drive with ( your course TAs and your faculty) </a:t>
            </a:r>
          </a:p>
        </p:txBody>
      </p:sp>
    </p:spTree>
    <p:extLst>
      <p:ext uri="{BB962C8B-B14F-4D97-AF65-F5344CB8AC3E}">
        <p14:creationId xmlns:p14="http://schemas.microsoft.com/office/powerpoint/2010/main" val="81366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292100" y="1564640"/>
            <a:ext cx="10252683" cy="99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43560" marR="119379" lvl="0" indent="-4552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N" sz="36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your problem statement crisply</a:t>
            </a:r>
            <a:r>
              <a:rPr lang="en-IN" sz="3600" i="1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88266" marR="119379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6600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35085630-386F-E457-D5C1-6098744789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Problem Statement</a:t>
            </a:r>
            <a:endParaRPr dirty="0"/>
          </a:p>
        </p:txBody>
      </p:sp>
      <p:sp>
        <p:nvSpPr>
          <p:cNvPr id="2" name="Google Shape;178;p32">
            <a:extLst>
              <a:ext uri="{FF2B5EF4-FFF2-40B4-BE49-F238E27FC236}">
                <a16:creationId xmlns:a16="http://schemas.microsoft.com/office/drawing/2014/main" id="{449428A8-149C-DFD8-3E58-C78123DB371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4DDDB74-EBCD-A5A3-F216-997AD1B72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76" y="2585918"/>
            <a:ext cx="1113322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project tackles student performance using a two-part 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develop and evaluate regression models (e.g., Random Forest, Lasso) to predict a student's final academic grade (G3) based on their demographic, social, and academic background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Causal Inference: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move beyond correlation and determine the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causal impact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"high study time" (defined as 2 or more hours) on final grades, while controlling for confounding variables like past failures and absences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BA7AC88-1880-9D8A-4335-B759DFCD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99074C20-2BD7-E563-F9D4-1C0AAA7B5CEF}"/>
              </a:ext>
            </a:extLst>
          </p:cNvPr>
          <p:cNvSpPr txBox="1"/>
          <p:nvPr/>
        </p:nvSpPr>
        <p:spPr>
          <a:xfrm>
            <a:off x="292100" y="1564640"/>
            <a:ext cx="10252683" cy="504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43560" marR="119379" lvl="0" indent="-4552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N" sz="32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is this topic unique? Write in crisp bullets</a:t>
            </a:r>
            <a:endParaRPr sz="3200" b="1" i="1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702CBD9C-3D2A-A1F2-7C5F-B49EFDB319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35512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B4DCDD19-53C3-87CE-748C-05EFC6C7A897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504DE4BB-AB6C-616F-CDF7-48938B17D4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Uniqueness</a:t>
            </a:r>
            <a:endParaRPr dirty="0"/>
          </a:p>
        </p:txBody>
      </p:sp>
      <p:sp>
        <p:nvSpPr>
          <p:cNvPr id="2" name="Google Shape;178;p32">
            <a:extLst>
              <a:ext uri="{FF2B5EF4-FFF2-40B4-BE49-F238E27FC236}">
                <a16:creationId xmlns:a16="http://schemas.microsoft.com/office/drawing/2014/main" id="{1F0F9DF2-7B2F-2113-CE6B-F64F675736F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8C66319-ABDB-A017-52D0-AF6220B3C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32" y="2287518"/>
            <a:ext cx="11964068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topic is unique for the following reasons: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Dual-Pronged Analysis: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integrates two distinct data science domains: traditional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modeling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(what will the grade be?) and formal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causal inference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(does studying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better grade?).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Causal Methods: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just looking at correlations, we use robust methods like Propensity Score Matching (PSM) and Inverse Probability Weighting (IPW) to isolate the true effect of studying from confounding factors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Heterogeneity Analysis: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provide nuanced insights by investigating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causal effect of studying differs across subgroups, specifically by gender and the number of past academic failures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Combined Dataset: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create a more robust sample for analysis by merging two separate UCI datasets (Mathematics and Portuguese) to achieve a total sample size of 1044 students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28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9FFD4AB-2AD2-12F6-E85B-93971A82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79991763-9613-3510-8048-7F68DE17CE11}"/>
              </a:ext>
            </a:extLst>
          </p:cNvPr>
          <p:cNvSpPr txBox="1"/>
          <p:nvPr/>
        </p:nvSpPr>
        <p:spPr>
          <a:xfrm>
            <a:off x="292100" y="1564640"/>
            <a:ext cx="10252683" cy="56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43560" marR="119379" lvl="0" indent="-4552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N" sz="3600" b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Size, attribute, source   </a:t>
            </a:r>
            <a:endParaRPr sz="3600" b="1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D0E528B6-696B-2650-3333-9EC22089D2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4096" y="16560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4D9B295-86C2-6340-33EA-B4352902F3CB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65BA688B-29D9-1AF4-8378-FE693318A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Dataset </a:t>
            </a:r>
            <a:endParaRPr dirty="0"/>
          </a:p>
        </p:txBody>
      </p:sp>
      <p:sp>
        <p:nvSpPr>
          <p:cNvPr id="2" name="Google Shape;178;p32">
            <a:extLst>
              <a:ext uri="{FF2B5EF4-FFF2-40B4-BE49-F238E27FC236}">
                <a16:creationId xmlns:a16="http://schemas.microsoft.com/office/drawing/2014/main" id="{53580D75-E73E-7463-EB20-48B45FDCE44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1D6464B-93A6-A3F3-B21D-D744A7949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935" y="2524734"/>
            <a:ext cx="11745372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Details on the dataset used for this analysis: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Merged "Student Performance" dataset (P. Cortez and A. Silva) from two secondary school courses: Mathematics and Portuguese language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1044 observations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(students) and 33 original attributes (features)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Attributes: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rich mix of features, including: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G1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G2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G3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(grades),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studytime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failures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absences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age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sex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address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Mjob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Fjob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Social/Lifestyle: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freetime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goout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Dalc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(workday alcohol),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Walc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(weekend alcohol),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health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840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CACF7F8-A546-F433-DAB3-6A7DF104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F1045981-9E7B-0346-29CE-C9B395042E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6328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93B75A02-2C41-638D-481F-7B4BA77A2339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79B29ED5-0349-36D3-6119-19832AED69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Overall Design or Approach</a:t>
            </a:r>
            <a:endParaRPr dirty="0"/>
          </a:p>
        </p:txBody>
      </p:sp>
      <p:sp>
        <p:nvSpPr>
          <p:cNvPr id="2" name="Google Shape;178;p32">
            <a:extLst>
              <a:ext uri="{FF2B5EF4-FFF2-40B4-BE49-F238E27FC236}">
                <a16:creationId xmlns:a16="http://schemas.microsoft.com/office/drawing/2014/main" id="{F6B6AEA4-E5DE-5644-E2E8-18BFA107373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8B63B81-429A-BB13-A604-DFA139471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81" y="1350727"/>
            <a:ext cx="10071377" cy="554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60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56F444D-98EF-5528-6FBA-A01C2585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826752FB-D694-10A0-1FAB-8C40C4A907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5239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79F60E43-44F7-8816-4C34-0AF90A8DD43A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E08C3EA7-99CE-80C7-F4F6-2B3802144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Final Results</a:t>
            </a:r>
            <a:endParaRPr dirty="0"/>
          </a:p>
        </p:txBody>
      </p:sp>
      <p:sp>
        <p:nvSpPr>
          <p:cNvPr id="2" name="Google Shape;178;p32">
            <a:extLst>
              <a:ext uri="{FF2B5EF4-FFF2-40B4-BE49-F238E27FC236}">
                <a16:creationId xmlns:a16="http://schemas.microsoft.com/office/drawing/2014/main" id="{9E13E3D6-5747-D91E-92F0-1C8DACC7298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96C8817-9A53-B45C-858D-35F08C16C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50" y="1542961"/>
            <a:ext cx="12079450" cy="541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Model Metrics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was to predict the final grade,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 score from 0-20).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Regressor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Set R²: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0.178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Set RMSE: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3.491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Cross-Validation (Avg. R²):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0.123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 (This low score indicates that predicting the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grade is very difficult, likely due to high human variability).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Causal Inference Findings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estimated the causal effect of "High Study Time" (&gt;= 2 hours) 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Treatment Effect (ATE):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Both PSM and IPW confirm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and statistically significant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causal effect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study time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causes an average increase of 0.56 points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final grade (G3), after controlling for confounders (IPW, p=0.017)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16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E3C0629-DE3F-CDC0-E186-1760C32D5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597E207C-60EB-1CC1-DAEA-FCB8DDE745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5239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96F2C7E9-5F7A-9ADA-3413-1FBC8BCDED52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D304F93E-8D99-7302-E4FD-9D424FDDB6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Final Results</a:t>
            </a:r>
            <a:endParaRPr dirty="0"/>
          </a:p>
        </p:txBody>
      </p:sp>
      <p:sp>
        <p:nvSpPr>
          <p:cNvPr id="2" name="Google Shape;178;p32">
            <a:extLst>
              <a:ext uri="{FF2B5EF4-FFF2-40B4-BE49-F238E27FC236}">
                <a16:creationId xmlns:a16="http://schemas.microsoft.com/office/drawing/2014/main" id="{097E304D-2A7B-20EC-70BE-7219436AEA8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6656D4-1142-4278-DE9A-9579F6CF12A9}"/>
              </a:ext>
            </a:extLst>
          </p:cNvPr>
          <p:cNvSpPr txBox="1"/>
          <p:nvPr/>
        </p:nvSpPr>
        <p:spPr>
          <a:xfrm>
            <a:off x="80211" y="2054912"/>
            <a:ext cx="1035760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Visualizations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 Feature Importance: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plot shows the biggest drivers for the Random Forest model's predictions.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absences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failures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the most significant negative factors.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high_study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(our treatment variable) is confirmed as a positive driver.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Propensity Score Overlap: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plot confirms that the "High Study" (Treated) and "Low Study" (Control) groups were similar enough (good overlap) to conduct a valid causal analysis.</a:t>
            </a:r>
          </a:p>
        </p:txBody>
      </p:sp>
    </p:spTree>
    <p:extLst>
      <p:ext uri="{BB962C8B-B14F-4D97-AF65-F5344CB8AC3E}">
        <p14:creationId xmlns:p14="http://schemas.microsoft.com/office/powerpoint/2010/main" val="217689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5ED29E1-7F97-3743-6432-730899D49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A4B8854A-06C7-CD7F-ADCA-DE649E5E43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63034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8FFD2902-0F0E-0141-DD58-44978C3C947B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1B8B40EF-CE1D-E89D-40DE-0E7C616B45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Features : Done vs. Remaining to be done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940E85-F47A-D502-B749-0A7C824D0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428741"/>
              </p:ext>
            </p:extLst>
          </p:nvPr>
        </p:nvGraphicFramePr>
        <p:xfrm>
          <a:off x="422687" y="1997962"/>
          <a:ext cx="10981305" cy="423774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593599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 or To be Done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93599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Predictive </a:t>
                      </a:r>
                      <a:r>
                        <a:rPr lang="en-IN" sz="2000" dirty="0" err="1"/>
                        <a:t>Modeling</a:t>
                      </a:r>
                      <a:r>
                        <a:rPr lang="en-IN" sz="2000" dirty="0"/>
                        <a:t> (4 models)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93599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Causal Inference (PSM &amp; IPW)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93599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Model Validation (CV) &amp; 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93599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Heterogeneity Subgroup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477266">
                <a:tc rowSpan="3"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/>
                        <a:t>Model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/>
                        <a:t>To be Done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  <a:tr h="19837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Causal Sensitivity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362096"/>
                  </a:ext>
                </a:extLst>
              </a:tr>
              <a:tr h="19786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Test on new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26291"/>
                  </a:ext>
                </a:extLst>
              </a:tr>
            </a:tbl>
          </a:graphicData>
        </a:graphic>
      </p:graphicFrame>
      <p:sp>
        <p:nvSpPr>
          <p:cNvPr id="3" name="Google Shape;178;p32">
            <a:extLst>
              <a:ext uri="{FF2B5EF4-FFF2-40B4-BE49-F238E27FC236}">
                <a16:creationId xmlns:a16="http://schemas.microsoft.com/office/drawing/2014/main" id="{25EA2F7B-367A-F25D-016F-10DA3D443AB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5719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00A384D-4A29-FE2F-9ED1-A06744051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8221108-3C46-1BDC-AFA1-A811217E25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48D7660F-1C23-D554-0A1B-95F4BCB1580E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89E26273-B356-6D8D-C3FF-0EE6E3E411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Features : Who did what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4D2F6-CA64-8510-4AA5-6E7A59A23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055415"/>
              </p:ext>
            </p:extLst>
          </p:nvPr>
        </p:nvGraphicFramePr>
        <p:xfrm>
          <a:off x="422687" y="1997963"/>
          <a:ext cx="10981305" cy="37553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4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Feature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Contributed By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Data Cleaning &amp; 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Adyanth</a:t>
                      </a:r>
                      <a:r>
                        <a:rPr lang="en-IN" sz="2000" dirty="0"/>
                        <a:t> S, Adyaa G B, Harsha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Predictive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Abhishek P, Harsha, Adyaa G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Causal Inference &amp; PSM/IPW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err="1"/>
                        <a:t>Adyanth</a:t>
                      </a:r>
                      <a:r>
                        <a:rPr lang="en-IN" sz="2000" dirty="0"/>
                        <a:t> S, Abhishek 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Validation &amp; SHAP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Adyanth</a:t>
                      </a:r>
                      <a:r>
                        <a:rPr lang="en-IN" sz="2000" dirty="0"/>
                        <a:t>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Subgroup Analysis &amp; PPT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Adyaa G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  <p:sp>
        <p:nvSpPr>
          <p:cNvPr id="3" name="Google Shape;178;p32">
            <a:extLst>
              <a:ext uri="{FF2B5EF4-FFF2-40B4-BE49-F238E27FC236}">
                <a16:creationId xmlns:a16="http://schemas.microsoft.com/office/drawing/2014/main" id="{A09E3838-5D5A-DD78-1ADB-7F734272E76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5367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0B208BD-A2EA-1D2E-569F-05C92B12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38D4768-734E-4568-6F4F-F254DFAA0B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2CFE7EFE-4948-17F2-AB9F-CEDDFA7F35CF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5A083361-555A-F108-BBA0-4B3F49BF2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Quantity and Quality of Work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FFF1C5-C58E-EE62-06C8-8126A3A7D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69349"/>
              </p:ext>
            </p:extLst>
          </p:nvPr>
        </p:nvGraphicFramePr>
        <p:xfrm>
          <a:off x="96706" y="1439627"/>
          <a:ext cx="11521562" cy="5166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070">
                  <a:extLst>
                    <a:ext uri="{9D8B030D-6E8A-4147-A177-3AD203B41FA5}">
                      <a16:colId xmlns:a16="http://schemas.microsoft.com/office/drawing/2014/main" val="2897803363"/>
                    </a:ext>
                  </a:extLst>
                </a:gridCol>
                <a:gridCol w="3272655">
                  <a:extLst>
                    <a:ext uri="{9D8B030D-6E8A-4147-A177-3AD203B41FA5}">
                      <a16:colId xmlns:a16="http://schemas.microsoft.com/office/drawing/2014/main" val="3715099944"/>
                    </a:ext>
                  </a:extLst>
                </a:gridCol>
                <a:gridCol w="2344848">
                  <a:extLst>
                    <a:ext uri="{9D8B030D-6E8A-4147-A177-3AD203B41FA5}">
                      <a16:colId xmlns:a16="http://schemas.microsoft.com/office/drawing/2014/main" val="893068887"/>
                    </a:ext>
                  </a:extLst>
                </a:gridCol>
                <a:gridCol w="2084309">
                  <a:extLst>
                    <a:ext uri="{9D8B030D-6E8A-4147-A177-3AD203B41FA5}">
                      <a16:colId xmlns:a16="http://schemas.microsoft.com/office/drawing/2014/main" val="4267769587"/>
                    </a:ext>
                  </a:extLst>
                </a:gridCol>
                <a:gridCol w="3292680">
                  <a:extLst>
                    <a:ext uri="{9D8B030D-6E8A-4147-A177-3AD203B41FA5}">
                      <a16:colId xmlns:a16="http://schemas.microsoft.com/office/drawing/2014/main" val="885006999"/>
                    </a:ext>
                  </a:extLst>
                </a:gridCol>
              </a:tblGrid>
              <a:tr h="712751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Code Functionality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Runs w/o Issues ( Y /N)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State minor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531006"/>
                  </a:ext>
                </a:extLst>
              </a:tr>
              <a:tr h="513528">
                <a:tc>
                  <a:txBody>
                    <a:bodyPr/>
                    <a:lstStyle/>
                    <a:p>
                      <a:r>
                        <a:rPr lang="en-US" sz="2000" dirty="0"/>
                        <a:t>1.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 Loading &amp;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972334"/>
                  </a:ext>
                </a:extLst>
              </a:tr>
              <a:tr h="513528">
                <a:tc>
                  <a:txBody>
                    <a:bodyPr/>
                    <a:lstStyle/>
                    <a:p>
                      <a:r>
                        <a:rPr lang="en-US" sz="2000" dirty="0"/>
                        <a:t>2.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Descriptive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622078"/>
                  </a:ext>
                </a:extLst>
              </a:tr>
              <a:tr h="1602158">
                <a:tc>
                  <a:txBody>
                    <a:bodyPr/>
                    <a:lstStyle/>
                    <a:p>
                      <a:r>
                        <a:rPr lang="en-US" sz="2000" dirty="0"/>
                        <a:t>3.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Predictive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Code runs perfectly. Predictive R² is low (0.178) , but this is a finding, not a code issue.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884201"/>
                  </a:ext>
                </a:extLst>
              </a:tr>
              <a:tr h="513528">
                <a:tc>
                  <a:txBody>
                    <a:bodyPr/>
                    <a:lstStyle/>
                    <a:p>
                      <a:r>
                        <a:rPr lang="en-US" sz="2000" dirty="0"/>
                        <a:t>4.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Causal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11770"/>
                  </a:ext>
                </a:extLst>
              </a:tr>
              <a:tr h="1299864">
                <a:tc>
                  <a:txBody>
                    <a:bodyPr/>
                    <a:lstStyle/>
                    <a:p>
                      <a:r>
                        <a:rPr lang="en-US" sz="2000" dirty="0"/>
                        <a:t>5.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Validation &amp; 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Cross-validation scores show high variance , suggesting the model is not very stable.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903321"/>
                  </a:ext>
                </a:extLst>
              </a:tr>
            </a:tbl>
          </a:graphicData>
        </a:graphic>
      </p:graphicFrame>
      <p:sp>
        <p:nvSpPr>
          <p:cNvPr id="3" name="Google Shape;178;p32">
            <a:extLst>
              <a:ext uri="{FF2B5EF4-FFF2-40B4-BE49-F238E27FC236}">
                <a16:creationId xmlns:a16="http://schemas.microsoft.com/office/drawing/2014/main" id="{69ED3C70-BDF3-50C4-C558-235D37BDBE3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6600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CEF127C-5D96-6FDF-0824-AC0C2020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119434A6-F465-C405-A9EE-24E3520BB2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C37E285E-376C-660E-1F1D-09B4227A20DF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68C10F9B-D2D8-FCE9-636F-B0D5D9607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Top Few Learnings from this Project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9AF4B5-CC14-3FA1-9514-1FBFDA9B5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946969"/>
              </p:ext>
            </p:extLst>
          </p:nvPr>
        </p:nvGraphicFramePr>
        <p:xfrm>
          <a:off x="168965" y="1528572"/>
          <a:ext cx="11777870" cy="52101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9383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10508487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</a:tblGrid>
              <a:tr h="696898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830440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Causation &gt; Correlation:</a:t>
                      </a:r>
                      <a:r>
                        <a:rPr lang="en-IN" sz="2000" dirty="0"/>
                        <a:t> </a:t>
                      </a:r>
                      <a:r>
                        <a:rPr lang="en-US" sz="2000" dirty="0"/>
                        <a:t>We proved "high study time" </a:t>
                      </a:r>
                      <a:r>
                        <a:rPr lang="en-US" sz="2000" i="1" dirty="0"/>
                        <a:t>causes</a:t>
                      </a:r>
                      <a:r>
                        <a:rPr lang="en-US" sz="2000" dirty="0"/>
                        <a:t> a ~0.56 point grade increase, a finding simple correlation cannot provide 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830440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Subgroup Effects are Crucial</a:t>
                      </a:r>
                      <a:r>
                        <a:rPr lang="en-IN" sz="2000" dirty="0"/>
                        <a:t>: It</a:t>
                      </a:r>
                      <a:r>
                        <a:rPr lang="en-US" sz="2000" dirty="0"/>
                        <a:t> is statistically significant for </a:t>
                      </a:r>
                      <a:r>
                        <a:rPr lang="en-US" sz="2000" b="1" dirty="0"/>
                        <a:t>Male students</a:t>
                      </a:r>
                      <a:r>
                        <a:rPr lang="en-US" sz="2000" dirty="0"/>
                        <a:t> (causing a +0.87 point increase, p=0.013) but not for Female students (p=0.266) 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830440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Targeted Intervention Insight:</a:t>
                      </a:r>
                      <a:r>
                        <a:rPr lang="en-IN" sz="2000" dirty="0"/>
                        <a:t> T</a:t>
                      </a:r>
                      <a:r>
                        <a:rPr lang="en-US" sz="2000" dirty="0"/>
                        <a:t>he impact of study time is strongest for students who have </a:t>
                      </a:r>
                      <a:r>
                        <a:rPr lang="en-US" sz="2000" b="1" dirty="0"/>
                        <a:t>previously failed 2 courses</a:t>
                      </a:r>
                      <a:r>
                        <a:rPr lang="en-US" sz="2000" dirty="0"/>
                        <a:t> (a +3.38 point increase, p=0.031).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830440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Prediction vs. Inference:</a:t>
                      </a:r>
                      <a:r>
                        <a:rPr lang="en-IN" sz="2000" dirty="0"/>
                        <a:t> </a:t>
                      </a:r>
                      <a:r>
                        <a:rPr lang="en-US" sz="2000" dirty="0"/>
                        <a:t>Predicting an </a:t>
                      </a:r>
                      <a:r>
                        <a:rPr lang="en-US" sz="2000" i="1" dirty="0"/>
                        <a:t>exact</a:t>
                      </a:r>
                      <a:r>
                        <a:rPr lang="en-US" sz="2000" dirty="0"/>
                        <a:t> grade (G3) is very difficult (low R²), likely due to high human variability.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1191500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 Validation is Key:</a:t>
                      </a:r>
                      <a:r>
                        <a:rPr lang="en-US" sz="2000" dirty="0"/>
                        <a:t> The initial test R² (0.178) looked low, but 5-fold cross-validation (Avg. R²=0.123) confirmed the model's high variance and limited predictive power, preventing us from overstating its capability 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  <p:sp>
        <p:nvSpPr>
          <p:cNvPr id="5" name="Google Shape;178;p32">
            <a:extLst>
              <a:ext uri="{FF2B5EF4-FFF2-40B4-BE49-F238E27FC236}">
                <a16:creationId xmlns:a16="http://schemas.microsoft.com/office/drawing/2014/main" id="{7CD09152-76A3-8DA3-DB94-37FAA80A474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0370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C5193A5-CC78-5F29-7C7A-66D3E430E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FA30D013-35C3-C234-BED6-6499675544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8398FD0-96D5-CF0E-32E6-919FE6B33DFC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15BBCC29-A208-4352-BADA-2DB6C5861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Top Unresolved Challenges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12385C-DCB4-AC12-0935-6C4F18E91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511168"/>
              </p:ext>
            </p:extLst>
          </p:nvPr>
        </p:nvGraphicFramePr>
        <p:xfrm>
          <a:off x="422687" y="1997963"/>
          <a:ext cx="11104590" cy="369726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6819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9907771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Low Predictive Power:</a:t>
                      </a:r>
                      <a:r>
                        <a:rPr lang="en-US" sz="2000" dirty="0"/>
                        <a:t> The best regression model (Random Forest) had a very low R² (0.178 on test, 0.123 on CV) . This means the current features are insufficient to accurately predict a student's exact final grade.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High Model Variance:</a:t>
                      </a:r>
                      <a:r>
                        <a:rPr lang="en-US" sz="2000" dirty="0"/>
                        <a:t> Inconsistent cross-validation scores (-0.42 to 0.34) show the Random Forest model is unstable.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Confounding Variables:</a:t>
                      </a:r>
                      <a:r>
                        <a:rPr lang="en-US" sz="2000" dirty="0"/>
                        <a:t> Causal estimates are sensitive to unmeasured factors (like motivation)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Small Subgroup Samples:</a:t>
                      </a:r>
                      <a:r>
                        <a:rPr lang="en-US" sz="2000" dirty="0"/>
                        <a:t> Analyses by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failures</a:t>
                      </a:r>
                      <a:r>
                        <a:rPr lang="en-US" sz="2000" dirty="0"/>
                        <a:t> are unreliable because the sample sizes (e.g., N=30) are too small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</a:tbl>
          </a:graphicData>
        </a:graphic>
      </p:graphicFrame>
      <p:sp>
        <p:nvSpPr>
          <p:cNvPr id="2" name="Google Shape;178;p32">
            <a:extLst>
              <a:ext uri="{FF2B5EF4-FFF2-40B4-BE49-F238E27FC236}">
                <a16:creationId xmlns:a16="http://schemas.microsoft.com/office/drawing/2014/main" id="{F8CB53E6-D505-0B4F-97AB-5117E245885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1397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C48A601-BD1B-2FC6-6D4E-6013B647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3720601-0D54-E16F-1F58-492B181F50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CB1E558E-7C2F-69F6-D632-A187019E8712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C2750D0C-4893-9DF5-E491-EB010FB38F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References, if any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AD55FC-0E32-C06C-130A-6F1823F8A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372608"/>
              </p:ext>
            </p:extLst>
          </p:nvPr>
        </p:nvGraphicFramePr>
        <p:xfrm>
          <a:off x="422687" y="1714299"/>
          <a:ext cx="10981305" cy="49624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Year of 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(Dataset)</a:t>
                      </a:r>
                      <a:r>
                        <a:rPr lang="en-US" sz="2000" dirty="0"/>
                        <a:t> Using Data Mining to Predict Secondary School Student Performance. (P. Cortez and A. Silva)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0" i="0" u="none" strike="noStrike" noProof="0" dirty="0">
                          <a:latin typeface="Arial"/>
                        </a:rPr>
                        <a:t>Department of Computer Science, [University Name], “Bangladesh Secondary School Student Performance Dataset,”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0" i="0" u="none" strike="noStrike" noProof="0" dirty="0">
                          <a:latin typeface="Arial"/>
                        </a:rPr>
                        <a:t>Sharma, A., Kallus, N., Song, X., &amp; Xu, Z. (2020). </a:t>
                      </a:r>
                      <a:r>
                        <a:rPr lang="en-IN" sz="1600" b="0" i="0" u="none" strike="noStrike" noProof="0" err="1">
                          <a:latin typeface="Arial"/>
                        </a:rPr>
                        <a:t>DoWhy</a:t>
                      </a:r>
                      <a:r>
                        <a:rPr lang="en-IN" sz="1600" b="0" i="0" u="none" strike="noStrike" noProof="0" dirty="0">
                          <a:latin typeface="Arial"/>
                        </a:rPr>
                        <a:t>: An end-to-end library for causal inference. </a:t>
                      </a:r>
                      <a:r>
                        <a:rPr lang="en-IN" sz="1600" b="0" i="0" u="none" strike="noStrike" noProof="0" err="1">
                          <a:latin typeface="Arial"/>
                        </a:rPr>
                        <a:t>arXiv</a:t>
                      </a:r>
                      <a:r>
                        <a:rPr lang="en-IN" sz="1600" b="0" i="0" u="none" strike="noStrike" noProof="0" dirty="0">
                          <a:latin typeface="Arial"/>
                        </a:rPr>
                        <a:t> preprint arXiv:2011.04216.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noProof="0" dirty="0">
                          <a:latin typeface="Arial"/>
                        </a:rPr>
                        <a:t>S. Seabold and J. </a:t>
                      </a:r>
                      <a:r>
                        <a:rPr lang="en-IN" sz="1400" b="0" i="0" u="none" strike="noStrike" noProof="0" dirty="0" err="1">
                          <a:latin typeface="Arial"/>
                        </a:rPr>
                        <a:t>Perktold</a:t>
                      </a:r>
                      <a:r>
                        <a:rPr lang="en-IN" sz="1400" b="0" i="0" u="none" strike="noStrike" noProof="0" dirty="0">
                          <a:latin typeface="Arial"/>
                        </a:rPr>
                        <a:t>, “</a:t>
                      </a:r>
                      <a:r>
                        <a:rPr lang="en-IN" sz="1400" b="0" i="0" u="none" strike="noStrike" noProof="0" dirty="0" err="1">
                          <a:latin typeface="Arial"/>
                        </a:rPr>
                        <a:t>Statsmodels</a:t>
                      </a:r>
                      <a:r>
                        <a:rPr lang="en-IN" sz="1400" b="0" i="0" u="none" strike="noStrike" noProof="0" dirty="0">
                          <a:latin typeface="Arial"/>
                        </a:rPr>
                        <a:t>: Econometric and statistical </a:t>
                      </a:r>
                      <a:r>
                        <a:rPr lang="en-IN" sz="1400" b="0" i="0" u="none" strike="noStrike" noProof="0" dirty="0" err="1">
                          <a:latin typeface="Arial"/>
                        </a:rPr>
                        <a:t>modeling</a:t>
                      </a:r>
                      <a:r>
                        <a:rPr lang="en-IN" sz="1400" b="0" i="0" u="none" strike="noStrike" noProof="0" dirty="0">
                          <a:latin typeface="Arial"/>
                        </a:rPr>
                        <a:t> with Python,” in Proc. 9th Python in Science Conf., 2010.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0" i="0" u="none" strike="noStrike" noProof="0" dirty="0">
                          <a:latin typeface="Arial"/>
                        </a:rPr>
                        <a:t>J. M. Robins, M. A. Hernán, and B. Brumback, “Marginal structural models and causal inference in epidemiology,” Epidemiology, vol. 11,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0" i="0" u="none" strike="noStrike" noProof="0" dirty="0">
                          <a:latin typeface="Arial"/>
                        </a:rPr>
                        <a:t>A. Sharma, N. Kallus, X. Song, and Z. Xu, “</a:t>
                      </a:r>
                      <a:r>
                        <a:rPr lang="en-IN" sz="1600" b="0" i="0" u="none" strike="noStrike" noProof="0" err="1">
                          <a:latin typeface="Arial"/>
                        </a:rPr>
                        <a:t>DoWhy</a:t>
                      </a:r>
                      <a:r>
                        <a:rPr lang="en-IN" sz="1600" b="0" i="0" u="none" strike="noStrike" noProof="0" dirty="0">
                          <a:latin typeface="Arial"/>
                        </a:rPr>
                        <a:t>: An end-to-end library for causal inference,” </a:t>
                      </a:r>
                      <a:r>
                        <a:rPr lang="en-IN" sz="1600" b="0" i="0" u="none" strike="noStrike" noProof="0" err="1">
                          <a:latin typeface="Arial"/>
                        </a:rPr>
                        <a:t>arXiv</a:t>
                      </a:r>
                      <a:r>
                        <a:rPr lang="en-IN" sz="1600" b="0" i="0" u="none" strike="noStrike" noProof="0" dirty="0">
                          <a:latin typeface="Arial"/>
                        </a:rPr>
                        <a:t> preprint arXiv:2011.04216, 2020.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890993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noProof="0" dirty="0">
                          <a:latin typeface="Arial"/>
                        </a:rPr>
                        <a:t>S. M. Lundberg and S.-I. Lee, “A unified approach to interpreting model predictions,” in Advances in Neural Information Processing Systems (</a:t>
                      </a:r>
                      <a:r>
                        <a:rPr lang="en-IN" sz="1400" b="0" i="0" u="none" strike="noStrike" noProof="0" err="1">
                          <a:latin typeface="Arial"/>
                        </a:rPr>
                        <a:t>NeurIPS</a:t>
                      </a:r>
                      <a:r>
                        <a:rPr lang="en-IN" sz="1400" b="0" i="0" u="none" strike="noStrike" noProof="0" dirty="0">
                          <a:latin typeface="Arial"/>
                        </a:rPr>
                        <a:t>), vol. 30,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636599"/>
                  </a:ext>
                </a:extLst>
              </a:tr>
            </a:tbl>
          </a:graphicData>
        </a:graphic>
      </p:graphicFrame>
      <p:sp>
        <p:nvSpPr>
          <p:cNvPr id="3" name="Google Shape;178;p32">
            <a:extLst>
              <a:ext uri="{FF2B5EF4-FFF2-40B4-BE49-F238E27FC236}">
                <a16:creationId xmlns:a16="http://schemas.microsoft.com/office/drawing/2014/main" id="{116FBA06-72B1-8B03-FD55-EA00A8DB9E7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Data Analytics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5907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29"/>
          <p:cNvCxnSpPr/>
          <p:nvPr/>
        </p:nvCxnSpPr>
        <p:spPr>
          <a:xfrm rot="10800000" flipH="1">
            <a:off x="4417036" y="2862364"/>
            <a:ext cx="4581449" cy="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2" name="Google Shape;322;p29"/>
          <p:cNvSpPr/>
          <p:nvPr/>
        </p:nvSpPr>
        <p:spPr>
          <a:xfrm>
            <a:off x="4335037" y="4065484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29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324" name="Google Shape;324;p29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9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9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9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p29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417" y="1444118"/>
            <a:ext cx="2369218" cy="355018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/>
          <p:nvPr/>
        </p:nvSpPr>
        <p:spPr>
          <a:xfrm>
            <a:off x="4263561" y="1949847"/>
            <a:ext cx="4603806" cy="66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3600"/>
              <a:buFont typeface="Calibri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4335037" y="303304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November 2025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4335037" y="3549286"/>
            <a:ext cx="854306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in AI &amp;ML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1302</Words>
  <Application>Microsoft Office PowerPoint</Application>
  <PresentationFormat>Widescreen</PresentationFormat>
  <Paragraphs>198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Submission Checklist </vt:lpstr>
      <vt:lpstr>Problem Statement</vt:lpstr>
      <vt:lpstr>Uniqueness</vt:lpstr>
      <vt:lpstr>Dataset </vt:lpstr>
      <vt:lpstr>Overall Design or Approach</vt:lpstr>
      <vt:lpstr>Final Results</vt:lpstr>
      <vt:lpstr>Final Results</vt:lpstr>
      <vt:lpstr>Features : Done vs. Remaining to be done</vt:lpstr>
      <vt:lpstr>Features : Who did what </vt:lpstr>
      <vt:lpstr>Quantity and Quality of Work </vt:lpstr>
      <vt:lpstr>Top Few Learnings from this Project</vt:lpstr>
      <vt:lpstr>Top Unresolved Challenges</vt:lpstr>
      <vt:lpstr>References, if any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Bhaskar</dc:creator>
  <cp:lastModifiedBy>Adyaa GB</cp:lastModifiedBy>
  <cp:revision>116</cp:revision>
  <dcterms:created xsi:type="dcterms:W3CDTF">2024-03-24T13:13:17Z</dcterms:created>
  <dcterms:modified xsi:type="dcterms:W3CDTF">2025-11-18T03:08:42Z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2024-03-24T00:00:00Z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2024-03-24T00:00:00Z</vt:filetime>
  </property>
  <property fmtid="{D5CDD505-2E9C-101B-9397-08002B2CF9AE}" pid="5" name="Producer">
    <vt:lpwstr>Adobe PDF Library 23.8.234</vt:lpwstr>
  </property>
</Properties>
</file>